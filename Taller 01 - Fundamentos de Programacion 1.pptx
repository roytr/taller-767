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6RGWRtQGyGBW3zPA/6KDsXsD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179818-0691-49D2-B2F5-8FF713A934B3}">
  <a:tblStyle styleId="{E9179818-0691-49D2-B2F5-8FF713A934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b="19208" l="25516" r="10732" t="21265"/>
          <a:stretch/>
        </p:blipFill>
        <p:spPr>
          <a:xfrm>
            <a:off x="0" y="-58738"/>
            <a:ext cx="12335933" cy="6911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 txBox="1"/>
          <p:nvPr>
            <p:ph type="ctrTitle"/>
          </p:nvPr>
        </p:nvSpPr>
        <p:spPr>
          <a:xfrm>
            <a:off x="609600" y="2582864"/>
            <a:ext cx="10363200" cy="1470025"/>
          </a:xfrm>
          <a:prstGeom prst="rect">
            <a:avLst/>
          </a:prstGeom>
          <a:noFill/>
          <a:ln cap="flat" cmpd="sng" w="9525">
            <a:solidFill>
              <a:srgbClr val="4F81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1"/>
          <p:cNvPicPr preferRelativeResize="0"/>
          <p:nvPr/>
        </p:nvPicPr>
        <p:blipFill rotWithShape="1">
          <a:blip r:embed="rId2">
            <a:alphaModFix/>
          </a:blip>
          <a:srcRect b="69243" l="26253" r="11005" t="21381"/>
          <a:stretch/>
        </p:blipFill>
        <p:spPr>
          <a:xfrm>
            <a:off x="1" y="0"/>
            <a:ext cx="12189884" cy="10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0" y="381001"/>
            <a:ext cx="11960942" cy="2598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s-PE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FUNDAMENTOS DE PROGRAMACIÓN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s-P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TALLER 1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s-P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 A LA PROGRAMACIÓN</a:t>
            </a:r>
            <a:endParaRPr/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8647" y="3122691"/>
            <a:ext cx="5963215" cy="3354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607449" y="317451"/>
            <a:ext cx="15826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2346037" y="1979115"/>
            <a:ext cx="713970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6425" lvl="0" marL="606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P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un algoritmo?</a:t>
            </a:r>
            <a:endParaRPr/>
          </a:p>
          <a:p>
            <a:pPr indent="-606425" lvl="0" marL="606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P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Clasificación de los Lenguajes de Programación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6425" lvl="0" marL="606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P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Fases de Elaboración de un Programa</a:t>
            </a:r>
            <a:endParaRPr/>
          </a:p>
          <a:p>
            <a:pPr indent="-606425" lvl="0" marL="606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P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Consejos</a:t>
            </a:r>
            <a:endParaRPr/>
          </a:p>
          <a:p>
            <a:pPr indent="-606425" lvl="0" marL="606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P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Ejercicios</a:t>
            </a:r>
            <a:endParaRPr/>
          </a:p>
          <a:p>
            <a:pPr indent="-454025" lvl="0" marL="606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622465" y="302702"/>
            <a:ext cx="42993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¿Qué es un algoritmo?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077201" y="6248401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P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851" y="2349501"/>
            <a:ext cx="2238375" cy="26765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125" y="2951164"/>
            <a:ext cx="1462088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5550" y="2636839"/>
            <a:ext cx="1314450" cy="17160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2209800" y="4724400"/>
            <a:ext cx="1600200" cy="4333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s-PE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Entrada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8228013" y="4652963"/>
            <a:ext cx="1600200" cy="431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s-PE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Salida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7440613" y="3398838"/>
            <a:ext cx="576262" cy="57626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160839" y="3436938"/>
            <a:ext cx="574675" cy="57626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295900" y="5203826"/>
            <a:ext cx="1600200" cy="8429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s-PE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Secuencia de Pasos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644247" y="305996"/>
            <a:ext cx="90806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Clasificación de los Lenguajes de Programación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0" name="Google Shape;120;p4"/>
          <p:cNvGraphicFramePr/>
          <p:nvPr/>
        </p:nvGraphicFramePr>
        <p:xfrm>
          <a:off x="1250950" y="23344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{E9179818-0691-49D2-B2F5-8FF713A934B3}</a:tableStyleId>
              </a:tblPr>
              <a:tblGrid>
                <a:gridCol w="1627700"/>
                <a:gridCol w="2274975"/>
                <a:gridCol w="2132200"/>
                <a:gridCol w="3655200"/>
              </a:tblGrid>
              <a:tr h="23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Nivel de Abstracción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Lenguaje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Ejemplos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Características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nivel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Lenguajes de Alto Nivel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Python, Java, C#, JavaScript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Sintaxis amigable al humano, independientes del hardware, fáciles de aprender y mantener.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 nivel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Lenguajes de Medio Nivel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C++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Mezcla de abstracción y control sobre hardware. Permiten programación estructurada y acceso a bajo nivel como manipulación de memoria.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nivel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Lenguajes de Bajo Nivel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Ensamblador (Assembly)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cercanos al lenguaje máquina, requieren conocimiento del hardware. Se usan para tareas donde se necesita máximo rendimiento o control del sistema.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 máquina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Código Binario / Hexadecimal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10110010...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Instrucciones directas para la CPU, imposibles de leer para humanos. El más bajo nivel de programación.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4"/>
          <p:cNvSpPr txBox="1"/>
          <p:nvPr/>
        </p:nvSpPr>
        <p:spPr>
          <a:xfrm>
            <a:off x="644247" y="1189831"/>
            <a:ext cx="4251120" cy="426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6425" lvl="0" marL="606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P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Nivel de Abstracción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644247" y="305996"/>
            <a:ext cx="90806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Clasificación de los Lenguajes de Programación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644247" y="1189831"/>
            <a:ext cx="4251120" cy="426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6425" lvl="0" marL="606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P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 de Ejecución</a:t>
            </a:r>
            <a:endParaRPr/>
          </a:p>
        </p:txBody>
      </p:sp>
      <p:graphicFrame>
        <p:nvGraphicFramePr>
          <p:cNvPr id="128" name="Google Shape;128;p5"/>
          <p:cNvGraphicFramePr/>
          <p:nvPr/>
        </p:nvGraphicFramePr>
        <p:xfrm>
          <a:off x="838200" y="3118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{E9179818-0691-49D2-B2F5-8FF713A934B3}</a:tableStyleId>
              </a:tblPr>
              <a:tblGrid>
                <a:gridCol w="1871925"/>
                <a:gridCol w="2542250"/>
                <a:gridCol w="1618950"/>
                <a:gridCol w="1871925"/>
                <a:gridCol w="2610550"/>
              </a:tblGrid>
              <a:tr h="209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Ejemplos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Ventajas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Desventajas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33490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Compilados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código fuente se traduce completamente a lenguaje máquina antes de ejecutarse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C++, Go, Rust, Java, C#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 velocidad de ejecución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Menor portabilidad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6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Errores detectados antes de ejecutar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necesita recompilar en cada plataforma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45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Interpretados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código se ejecuta línea por línea mediante un intérprete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Python, JavaScript, Ruby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Más fácil de probar y modificar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Más lentos al ejecutarse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6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Portables entre plataformas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Errores aparecen en tiempo de ejecución</a:t>
                      </a:r>
                      <a:endParaRPr/>
                    </a:p>
                  </a:txBody>
                  <a:tcPr marT="8375" marB="0" marR="8375" marL="83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/>
        </p:nvSpPr>
        <p:spPr>
          <a:xfrm>
            <a:off x="644247" y="305996"/>
            <a:ext cx="90806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Clasificación de los Lenguajes de Programación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644247" y="1189831"/>
            <a:ext cx="4251120" cy="426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6425" lvl="0" marL="606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P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Paradigma de Programación</a:t>
            </a:r>
            <a:endParaRPr/>
          </a:p>
        </p:txBody>
      </p:sp>
      <p:graphicFrame>
        <p:nvGraphicFramePr>
          <p:cNvPr id="136" name="Google Shape;136;p6"/>
          <p:cNvGraphicFramePr/>
          <p:nvPr/>
        </p:nvGraphicFramePr>
        <p:xfrm>
          <a:off x="838200" y="25006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{E9179818-0691-49D2-B2F5-8FF713A934B3}</a:tableStyleId>
              </a:tblPr>
              <a:tblGrid>
                <a:gridCol w="1984950"/>
                <a:gridCol w="3372875"/>
                <a:gridCol w="1600275"/>
                <a:gridCol w="3557525"/>
              </a:tblGrid>
              <a:tr h="23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Paradigma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Ejemplos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Características Clave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6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Imperativo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Describe </a:t>
                      </a:r>
                      <a:r>
                        <a:rPr b="0" i="1" lang="es-PE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cómo</a:t>
                      </a:r>
                      <a:r>
                        <a:rPr b="0" i="0" lang="es-PE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 debe realizar una tarea mediante instrucciones secuenciales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Python, Java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de variables, estructuras de control (if, loops), cambios de estado.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Declarativo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Describe </a:t>
                      </a:r>
                      <a:r>
                        <a:rPr b="0" i="1" lang="es-PE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qué</a:t>
                      </a:r>
                      <a:r>
                        <a:rPr b="0" i="0" lang="es-PE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 desea obtener, sin especificar el cómo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SQL, HTML, Prolog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enfoca en el resultado, no en los pasos para alcanzarlo.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Estructurado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Subtipo del imperativo, basado en bloques de código bien organizados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Pascal, Ada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de funciones/procedimientos, evita el uso de GOTO.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Funcional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Basado en funciones matemáticas, evita estados y datos mutables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Haskell, Lisp, Scala, Elixir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Funciones puras, recursión, sin efectos secundarios.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Lógico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Basado en lógica formal y reglas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Prolog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 hechos y reglas; el programa busca soluciones lógicas a partir de ellos.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Orientado a Objetos (OOP)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Modela el problema en objetos que tienen estado y comportamiento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Java, Python, C++, C#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PE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Clases, objetos, herencia, encapsulamiento, polimorfismo.</a:t>
                      </a:r>
                      <a:endParaRPr/>
                    </a:p>
                  </a:txBody>
                  <a:tcPr marT="9225" marB="0" marR="9225" marL="92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" name="Google Shape;137;p6"/>
          <p:cNvSpPr txBox="1"/>
          <p:nvPr/>
        </p:nvSpPr>
        <p:spPr>
          <a:xfrm>
            <a:off x="838200" y="6124359"/>
            <a:ext cx="105155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Nota:</a:t>
            </a: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Muchos lenguajes modernos son </a:t>
            </a:r>
            <a:r>
              <a:rPr b="1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multiparadigma</a:t>
            </a: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 decir, </a:t>
            </a:r>
            <a:r>
              <a:rPr b="1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soportan más de un estilo de programación</a:t>
            </a:r>
            <a:r>
              <a:rPr b="0" i="0" lang="es-P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Por ejemplo, Python puede usarse como imperativo, estructurado, orientado a objetos y parcialmente funcional.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/>
        </p:nvSpPr>
        <p:spPr>
          <a:xfrm>
            <a:off x="740185" y="317450"/>
            <a:ext cx="19447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Consejos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6017832" y="2600404"/>
            <a:ext cx="5917790" cy="2603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PE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Entender bien el problema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PE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Paso a paso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PE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Dividir el problema en mini problema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PE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Escribir como si otro fuera a leer tu código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PE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memorices, entiende</a:t>
            </a:r>
            <a:endParaRPr/>
          </a:p>
        </p:txBody>
      </p:sp>
      <p:pic>
        <p:nvPicPr>
          <p:cNvPr descr="Una caricatura de una persona&#10;&#10;El contenido generado por IA puede ser incorrecto."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185" y="1464033"/>
            <a:ext cx="4876190" cy="487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/>
        </p:nvSpPr>
        <p:spPr>
          <a:xfrm>
            <a:off x="740185" y="317450"/>
            <a:ext cx="20267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Ejercicios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2025-03-31T23:57:37Z</dcterms:created>
  <dc:creator>FAJARDO RUIZ Lucas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0x010100D3FBD7345C4F76459A10B0F64390F660</vt:lpwstr>
  </property>
</Properties>
</file>